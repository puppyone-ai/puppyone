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cc2c893b645ef" /><Relationship Type="http://schemas.openxmlformats.org/officeDocument/2006/relationships/extended-properties" Target="/docProps/app.xml" Id="R2f0867c862804edc" /><Relationship Type="http://schemas.openxmlformats.org/officeDocument/2006/relationships/officeDocument" Target="/ppt/presentation.xml" Id="R6edf95d1f1644d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c32688a4be4da9"/>
  </p:sldMasterIdLst>
  <p:notesMasterIdLst>
    <p:notesMasterId xmlns:r="http://schemas.openxmlformats.org/officeDocument/2006/relationships" r:id="R6d091a53cee54c43"/>
  </p:notesMasterIdLst>
  <p:sldIdLst>
    <p:sldId xmlns:r="http://schemas.openxmlformats.org/officeDocument/2006/relationships" id="256" r:id="R9eb1260b05524252"/>
    <p:sldId xmlns:r="http://schemas.openxmlformats.org/officeDocument/2006/relationships" id="257" r:id="Rc977ef808ede4328"/>
    <p:sldId xmlns:r="http://schemas.openxmlformats.org/officeDocument/2006/relationships" id="258" r:id="Rb656a64929144c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bcdbb02c5f423b" /><Relationship Type="http://schemas.openxmlformats.org/officeDocument/2006/relationships/slideMaster" Target="/ppt/slideMasters/slideMaster1.xml" Id="R23c32688a4be4da9" /><Relationship Type="http://schemas.openxmlformats.org/officeDocument/2006/relationships/notesMaster" Target="/ppt/notesMasters/notesMaster1.xml" Id="R6d091a53cee54c43" /><Relationship Type="http://schemas.openxmlformats.org/officeDocument/2006/relationships/presProps" Target="/ppt/presProps.xml" Id="R4baaa3a3cfa344ab" /><Relationship Type="http://schemas.openxmlformats.org/officeDocument/2006/relationships/tableStyles" Target="/ppt/tableStyles.xml" Id="Reac7be62d7d5460b" /><Relationship Type="http://schemas.openxmlformats.org/officeDocument/2006/relationships/slide" Target="/ppt/slides/slide1.xml" Id="R9eb1260b05524252" /><Relationship Type="http://schemas.openxmlformats.org/officeDocument/2006/relationships/slide" Target="/ppt/slides/slide2.xml" Id="Rc977ef808ede4328" /><Relationship Type="http://schemas.openxmlformats.org/officeDocument/2006/relationships/slide" Target="/ppt/slides/slide3.xml" Id="Rb656a64929144c5b" /></Relationships>
</file>

<file path=ppt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Core fidelity</c:v>
          </c:tx>
          <c:spPr>
            <a:solidFill xmlns:a="http://schemas.openxmlformats.org/drawingml/2006/main">
              <a:srgbClr val="2F6FEC"/>
            </a:solidFill>
          </c:spPr>
          <c:cat>
            <c:strRef>
              <c:f>Sheet1!$A$2:$A$5</c:f>
              <c:strCache>
                <c:ptCount val="4"/>
                <c:pt idx="0">
                  <c:v>v0.1</c:v>
                </c:pt>
                <c:pt idx="1">
                  <c:v>v0.2</c:v>
                </c:pt>
                <c:pt idx="2">
                  <c:v>v0.3</c:v>
                </c:pt>
                <c:pt idx="3">
                  <c:v>Current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0.56</c:v>
                </c:pt>
                <c:pt idx="1">
                  <c:v>0.7</c:v>
                </c:pt>
                <c:pt idx="2">
                  <c:v>0.82</c:v>
                </c:pt>
                <c:pt idx="3">
                  <c:v>0.92</c:v>
                </c:pt>
              </c:numCache>
            </c:numRef>
          </c:val>
        </c:ser>
        <c:ser>
          <c:idx val="1"/>
          <c:order val="1"/>
          <c:tx>
            <c:v>Graceful fallback</c:v>
          </c:tx>
          <c:spPr>
            <a:solidFill xmlns:a="http://schemas.openxmlformats.org/drawingml/2006/main">
              <a:srgbClr val="93B4F5"/>
            </a:solidFill>
          </c:spPr>
          <c:cat>
            <c:strRef>
              <c:f>Sheet1!$A$2:$A$5</c:f>
              <c:strCache>
                <c:ptCount val="4"/>
                <c:pt idx="0">
                  <c:v>v0.1</c:v>
                </c:pt>
                <c:pt idx="1">
                  <c:v>v0.2</c:v>
                </c:pt>
                <c:pt idx="2">
                  <c:v>v0.3</c:v>
                </c:pt>
                <c:pt idx="3">
                  <c:v>Current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0.44</c:v>
                </c:pt>
                <c:pt idx="1">
                  <c:v>0.64</c:v>
                </c:pt>
                <c:pt idx="2">
                  <c:v>0.78</c:v>
                </c:pt>
                <c:pt idx="3">
                  <c:v>0.88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440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2C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0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95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17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70ce02a91e42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e3a0649e624ac1" /><Relationship Type="http://schemas.openxmlformats.org/officeDocument/2006/relationships/notesMaster" Target="/ppt/notesMasters/notesMaster1.xml" Id="R5ff4d82a23534a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6ca80b0a12488e" /><Relationship Type="http://schemas.openxmlformats.org/officeDocument/2006/relationships/notesMaster" Target="/ppt/notesMasters/notesMaster1.xml" Id="R4f91b82e27c44e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c0d1e31e0a4c6f" /><Relationship Type="http://schemas.openxmlformats.org/officeDocument/2006/relationships/notesMaster" Target="/ppt/notesMasters/notesMaster1.xml" Id="R7d68cad3fffe49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8ec886d5341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d63432279b4ab3" /><Relationship Type="http://schemas.openxmlformats.org/officeDocument/2006/relationships/slideLayout" Target="/ppt/slideLayouts/slideLayout1.xml" Id="R70d10f13c52d44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d10f13c52d44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06dc59de94067" /><Relationship Type="http://schemas.openxmlformats.org/officeDocument/2006/relationships/notesSlide" Target="/ppt/notesSlides/notesSlide1.xml" Id="R8147167dbcbf4f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425c88aec4de3" /><Relationship Type="http://schemas.openxmlformats.org/officeDocument/2006/relationships/notesSlide" Target="/ppt/notesSlides/notesSlide2.xml" Id="R634e38686a054b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2e5a74311472e" /><Relationship Type="http://schemas.openxmlformats.org/officeDocument/2006/relationships/chart" Target="/ppt/charts/chart1.xml" Id="R1d8283bd7ed74b9f" /><Relationship Type="http://schemas.openxmlformats.org/officeDocument/2006/relationships/notesSlide" Target="/ppt/notesSlides/notesSlide3.xml" Id="R4399e1adf5f74f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208275-AB94-483B-A2A0-61FF5147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6F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EC"/>
                </a:solidFill>
                <a:latin typeface="Aptos"/>
                <a:ea typeface="Aptos"/>
                <a:cs typeface="Aptos"/>
              </a:rPr>
              <a:t>PUPPYONE · PPTX FIDELITY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742D3-D072-4AE5-BB37-833F41DF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让演示文稿保持原来的样子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22CBB-9E7F-40D1-8DD1-B1DAF6CF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17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26173"/>
                </a:solidFill>
                <a:latin typeface="Aptos"/>
                <a:ea typeface="Aptos"/>
                <a:cs typeface="Aptos"/>
              </a:rPr>
              <a:t>Native text, geometry and hierarchy — rendered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6A6F5B-6B4A-4C84-8489-5BA05FDF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113DB-CE9A-4351-A2F5-9E394661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6F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E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36D4C-B954-4DBD-B2B9-629A53E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212F"/>
                </a:solidFill>
                <a:latin typeface="PingFang SC"/>
                <a:ea typeface="PingFang SC"/>
                <a:cs typeface="PingFang SC"/>
              </a:rPr>
              <a:t>主题字体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D25AD-8654-47B3-9FA9-92A9E8C6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中文与英文按源文件字体回退，不套用产品 UI 字号。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AD5B22-5E75-4D80-A574-4E9625C6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1470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785F7-6F5E-417C-BBA6-8EA3D34A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6F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E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841A8-06DF-4E1A-9849-D3368644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29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212F"/>
                </a:solidFill>
                <a:latin typeface="PingFang SC"/>
                <a:ea typeface="PingFang SC"/>
                <a:cs typeface="PingFang SC"/>
              </a:rPr>
              <a:t>原生图形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EF1EB-AEDB-409B-A443-B228D2A3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910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形状、边框、阴影与层级保持在幻灯片画布内。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4430D-2118-4C9B-B576-766BF00A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3333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B62A9-CEE7-4CA8-BDF3-E27FD0AA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433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F6FE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FE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E67CB-A0CD-47BD-BE33-8BAEBAE2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29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212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212F"/>
                </a:solidFill>
                <a:latin typeface="PingFang SC"/>
                <a:ea typeface="PingFang SC"/>
                <a:cs typeface="PingFang SC"/>
              </a:rPr>
              <a:t>本地只读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39021-EEBF-487F-9AA6-9270568F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无需 Word、WPS、云端 API 或 Docker。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8E928-227D-4BFA-AE80-FC65BC4E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8595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7A85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35381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C086A-C614-44CA-8A2D-DE855E5E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项目状态一览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BA390-5539-45DD-B6BB-2B637148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67085"/>
                </a:solidFill>
                <a:latin typeface="Aptos"/>
                <a:ea typeface="Aptos"/>
                <a:cs typeface="Aptos"/>
              </a:rPr>
              <a:t>Native table · merged cells · source colors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190750"/>
                <a:gridCol w="2381250"/>
                <a:gridCol w="2400300"/>
              </a:tblGrid>
              <a:tr h="590550">
                <a:tc gridSpan="4"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轻量预览质量门槛</a:t>
                      </a:r>
                    </a:p>
                  </a:txBody>
                  <a:tcPr marL="190500" marR="190500" marT="76200" marB="76200" anchor="ctr">
                    <a:solidFill>
                      <a:srgbClr val="15335B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marL="190500" marR="190500" marT="76200" marB="76200" anchor="ctr">
                    <a:solidFill>
                      <a:srgbClr val="15335B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marL="190500" marR="190500" marT="76200" marB="76200" anchor="ctr">
                    <a:solidFill>
                      <a:srgbClr val="15335B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marL="190500" marR="190500" marT="76200" marB="76200" anchor="ctr">
                    <a:solidFill>
                      <a:srgbClr val="15335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436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</a:t>
                      </a:r>
                    </a:p>
                  </a:txBody>
                  <a:tcPr marL="133350" marR="133350" marT="76200" marB="7620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436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当前状态</a:t>
                      </a:r>
                    </a:p>
                  </a:txBody>
                  <a:tcPr marL="133350" marR="133350" marT="76200" marB="7620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436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验证方式</a:t>
                      </a:r>
                    </a:p>
                  </a:txBody>
                  <a:tcPr marL="133350" marR="133350" marT="76200" marB="76200" anchor="ctr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24436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预期</a:t>
                      </a:r>
                    </a:p>
                  </a:txBody>
                  <a:tcPr marL="133350" marR="133350" marT="76200" marB="76200" anchor="ctr">
                    <a:solidFill>
                      <a:srgbClr val="EA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中文与主题字体</a:t>
                      </a:r>
                    </a:p>
                  </a:txBody>
                  <a:tcPr marL="133350" marR="1333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7A4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Ready</a:t>
                      </a:r>
                    </a:p>
                  </a:txBody>
                  <a:tcPr marL="133350" marR="133350" marT="66675" marB="66675"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逐页截图</a:t>
                      </a:r>
                    </a:p>
                  </a:txBody>
                  <a:tcPr marL="133350" marR="1333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布局稳定</a:t>
                      </a:r>
                    </a:p>
                  </a:txBody>
                  <a:tcPr marL="133350" marR="133350" marT="66675" marB="66675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原生表格与合并单元格</a:t>
                      </a:r>
                    </a:p>
                  </a:txBody>
                  <a:tcPr marL="133350" marR="1333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7A4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Ready</a:t>
                      </a:r>
                    </a:p>
                  </a:txBody>
                  <a:tcPr marL="133350" marR="133350" marT="66675" marB="66675"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结构检查</a:t>
                      </a:r>
                    </a:p>
                  </a:txBody>
                  <a:tcPr marL="133350" marR="1333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边框完整</a:t>
                      </a:r>
                    </a:p>
                  </a:txBody>
                  <a:tcPr marL="133350" marR="133350" marT="66675" marB="66675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图表、形状与层级</a:t>
                      </a:r>
                    </a:p>
                  </a:txBody>
                  <a:tcPr marL="133350" marR="1333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27A4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Ready</a:t>
                      </a:r>
                    </a:p>
                  </a:txBody>
                  <a:tcPr marL="133350" marR="133350" marT="66675" marB="66675" anchor="ctr">
                    <a:solidFill>
                      <a:srgbClr val="ECFD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渲染回归</a:t>
                      </a:r>
                    </a:p>
                  </a:txBody>
                  <a:tcPr marL="133350" marR="1333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无重排</a:t>
                      </a:r>
                    </a:p>
                  </a:txBody>
                  <a:tcPr marL="133350" marR="133350" marT="66675" marB="66675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单页失败隔离</a:t>
                      </a:r>
                    </a:p>
                  </a:txBody>
                  <a:tcPr marL="133350" marR="1333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B5470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Guarded</a:t>
                      </a:r>
                    </a:p>
                  </a:txBody>
                  <a:tcPr marL="133350" marR="133350" marT="66675" marB="66675" anchor="ctr"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异常注入</a:t>
                      </a:r>
                    </a:p>
                  </a:txBody>
                  <a:tcPr marL="133350" marR="1333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4405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文稿仍可浏览</a:t>
                      </a:r>
                    </a:p>
                  </a:txBody>
                  <a:tcPr marL="133350" marR="133350" marT="66675" marB="66675" anchor="ctr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7A068-9B2B-4D57-B93F-7824ADF8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8595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7A85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8678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4B652-CE1C-4A4E-B7EA-055DBDDD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01828"/>
                </a:solidFill>
                <a:latin typeface="PingFang SC"/>
                <a:ea typeface="PingFang SC"/>
                <a:cs typeface="PingFang SC"/>
              </a:rPr>
              <a:t>渲染覆盖随版本稳步提升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A6D09-CCD6-47C6-9E18-6D872799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667085"/>
                </a:solidFill>
                <a:latin typeface="Aptos"/>
                <a:ea typeface="Aptos"/>
                <a:cs typeface="Aptos"/>
              </a:rPr>
              <a:t>Synthetic QA data — native chart plus editable callouts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F6CA8-AC83-4DE8-A479-F0D4765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334250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933450" y="2057400"/>
          <a:ext xmlns:a="http://schemas.openxmlformats.org/drawingml/2006/main" cx="67056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8283bd7ed74b9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8AF4D-811B-4352-8C88-36833D41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33375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5335B"/>
          </a:solidFill>
          <a:ln xmlns:a="http://schemas.openxmlformats.org/drawingml/2006/main" w="9525">
            <a:solidFill>
              <a:srgbClr val="1533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4419B-7307-47DA-9651-E1E4458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5247CE-DE38-40A3-A14A-C38AA96B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669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核心视觉覆盖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47AA9-1647-4DD6-96DB-C8D46095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43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CE8FF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DCE8FF"/>
                </a:solidFill>
                <a:latin typeface="PingFang SC"/>
                <a:ea typeface="PingFang SC"/>
                <a:cs typeface="PingFang SC"/>
              </a:rPr>
              <a:t>文字、表格、图形、图表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32F19-518F-44E4-AFBE-641FD837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86100"/>
            <a:ext cx="333375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CA7530-EC34-41FD-93E3-79F9918A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575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FE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6FEC"/>
                </a:solidFill>
                <a:latin typeface="Aptos"/>
                <a:ea typeface="Aptos"/>
                <a:cs typeface="Aptos"/>
              </a:rPr>
              <a:t>0 cloud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24AFA-3CCE-41E8-B1D7-67DEE72A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76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212F"/>
                </a:solidFill>
                <a:latin typeface="PingFang SC"/>
                <a:ea typeface="PingFang SC"/>
                <a:cs typeface="PingFang SC"/>
              </a:rPr>
              <a:t>本地执行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4A545-98C1-42EC-A9B5-E5BBD21A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52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文件内容不离开设备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AB02F4-065D-4862-B066-A6511285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95800"/>
            <a:ext cx="333375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CD2E8-F1B2-428A-9779-F68D0468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67250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F6FE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6FEC"/>
                </a:solidFill>
                <a:latin typeface="Aptos"/>
                <a:ea typeface="Aptos"/>
                <a:cs typeface="Aptos"/>
              </a:rPr>
              <a:t>1 slide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08579-1BC3-4216-A926-84FF1DD5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863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12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8212F"/>
                </a:solidFill>
                <a:latin typeface="PingFang SC"/>
                <a:ea typeface="PingFang SC"/>
                <a:cs typeface="PingFang SC"/>
              </a:rPr>
              <a:t>失败隔离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10C0A-FA57-43DC-B466-82C4C346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62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单页异常不阻断导航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A9F83-918D-49C3-9176-6DF52F45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7A8595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7A85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0393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2026-08-10T07:36:24.7120000Z</dcterms:created>
  <dcterms:modified xsi:type="dcterms:W3CDTF">2026-08-10T07:36:24.7120000Z</dcterms:modified>
</coreProperties>
</file>